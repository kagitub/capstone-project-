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4"/>
  </p:notesMasterIdLst>
  <p:handoutMasterIdLst>
    <p:handoutMasterId r:id="rId25"/>
  </p:handoutMasterIdLst>
  <p:sldIdLst>
    <p:sldId id="531" r:id="rId2"/>
    <p:sldId id="289" r:id="rId3"/>
    <p:sldId id="292" r:id="rId4"/>
    <p:sldId id="294" r:id="rId5"/>
    <p:sldId id="298" r:id="rId6"/>
    <p:sldId id="532" r:id="rId7"/>
    <p:sldId id="302" r:id="rId8"/>
    <p:sldId id="303" r:id="rId9"/>
    <p:sldId id="305" r:id="rId10"/>
    <p:sldId id="307" r:id="rId11"/>
    <p:sldId id="533" r:id="rId12"/>
    <p:sldId id="534" r:id="rId13"/>
    <p:sldId id="535" r:id="rId14"/>
    <p:sldId id="538" r:id="rId15"/>
    <p:sldId id="539" r:id="rId16"/>
    <p:sldId id="541" r:id="rId17"/>
    <p:sldId id="540" r:id="rId18"/>
    <p:sldId id="542" r:id="rId19"/>
    <p:sldId id="543" r:id="rId20"/>
    <p:sldId id="545" r:id="rId21"/>
    <p:sldId id="544" r:id="rId22"/>
    <p:sldId id="301" r:id="rId23"/>
  </p:sldIdLst>
  <p:sldSz cx="12192000" cy="6858000"/>
  <p:notesSz cx="6858000" cy="9144000"/>
  <p:embeddedFontLst>
    <p:embeddedFont>
      <p:font typeface="Aharoni" panose="02010803020104030203" pitchFamily="2" charset="-79"/>
      <p:bold r:id="rId26"/>
    </p:embeddedFont>
    <p:embeddedFont>
      <p:font typeface="Candara" panose="020E0502030303020204" pitchFamily="34" charset="0"/>
      <p:regular r:id="rId27"/>
      <p:bold r:id="rId28"/>
      <p:italic r:id="rId29"/>
      <p:boldItalic r:id="rId30"/>
    </p:embeddedFont>
    <p:embeddedFont>
      <p:font typeface="Montserrat" panose="00000500000000000000" pitchFamily="2" charset="0"/>
      <p:regular r:id="rId31"/>
      <p:bold r:id="rId32"/>
      <p:italic r:id="rId33"/>
      <p:boldItalic r:id="rId34"/>
    </p:embeddedFont>
    <p:embeddedFont>
      <p:font typeface="Montserrat Medium" panose="00000600000000000000" pitchFamily="2" charset="0"/>
      <p:regular r:id="rId35"/>
      <p:italic r:id="rId36"/>
    </p:embeddedFont>
    <p:embeddedFont>
      <p:font typeface="Open Sans" panose="020B0606030504020204" pitchFamily="34" charset="0"/>
      <p:regular r:id="rId37"/>
      <p:bold r:id="rId38"/>
      <p:italic r:id="rId39"/>
      <p:boldItalic r:id="rId40"/>
    </p:embeddedFont>
    <p:embeddedFont>
      <p:font typeface="Plus Jakarta Sans" panose="020B060402020202020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custDataLst>
    <p:tags r:id="rId4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BA28AC-466C-4F28-B4FC-A04275C1DF96}" v="480" dt="2025-11-19T10:57:04.333"/>
    <p1510:client id="{CC4EB598-2EA9-4574-BCEF-3CBEB5CD6CFC}" v="24" dt="2025-11-19T11:03:08.326"/>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87" Type="http://customschemas.google.com/relationships/presentationmetadata" Target="metadata"/><Relationship Id="rId5" Type="http://schemas.openxmlformats.org/officeDocument/2006/relationships/slide" Target="slides/slide4.xml"/><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8" Type="http://schemas.openxmlformats.org/officeDocument/2006/relationships/slide" Target="slides/slide7.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23-11-2025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1</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1703578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11</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1716002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0">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7" r:id="rId3"/>
    <p:sldLayoutId id="2147483658" r:id="rId4"/>
    <p:sldLayoutId id="2147483659" r:id="rId5"/>
    <p:sldLayoutId id="2147483660" r:id="rId6"/>
    <p:sldLayoutId id="2147483661" r:id="rId7"/>
    <p:sldLayoutId id="214748367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okwi.com/"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3">
            <a:alphaModFix amt="20000"/>
          </a:blip>
          <a:srcRect l="1514" r="2310" b="19493"/>
          <a:stretch/>
        </p:blipFill>
        <p:spPr>
          <a:xfrm>
            <a:off x="12082" y="61543"/>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chemeClr val="accent4">
                    <a:lumMod val="75000"/>
                  </a:schemeClr>
                </a:solidFill>
                <a:latin typeface="Open Sans"/>
                <a:ea typeface="Open Sans"/>
                <a:cs typeface="Open Sans"/>
                <a:sym typeface="Open Sans"/>
              </a:rPr>
              <a:t>GITAM (Deemed-to-be) University</a:t>
            </a:r>
            <a:endParaRPr lang="en-US" sz="2800" dirty="0">
              <a:solidFill>
                <a:schemeClr val="accent4">
                  <a:lumMod val="75000"/>
                </a:schemeClr>
              </a:solidFill>
            </a:endParaRPr>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1384954"/>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Karthik S</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err="1">
                <a:solidFill>
                  <a:schemeClr val="dk1"/>
                </a:solidFill>
                <a:latin typeface="Montserrat Medium"/>
                <a:sym typeface="Montserrat Medium"/>
              </a:rPr>
              <a:t>Manasanthosh</a:t>
            </a:r>
            <a:r>
              <a:rPr lang="en-US" b="1" dirty="0">
                <a:solidFill>
                  <a:schemeClr val="dk1"/>
                </a:solidFill>
                <a:latin typeface="Montserrat Medium"/>
                <a:sym typeface="Montserrat Medium"/>
              </a:rPr>
              <a:t> Y</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Salomi S</a:t>
            </a:r>
            <a:endParaRPr lang="en-US" b="1" dirty="0">
              <a:solidFill>
                <a:schemeClr val="dk1"/>
              </a:solidFill>
              <a:latin typeface="Montserrat Medium"/>
              <a:sym typeface="Montserrat Medium"/>
            </a:endParaRP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Rakshitha N</a:t>
            </a:r>
            <a:endParaRPr lang="en-US" sz="1400" b="1" i="0" u="none" strike="noStrike" cap="none" dirty="0">
              <a:solidFill>
                <a:schemeClr val="dk1"/>
              </a:solidFill>
              <a:latin typeface="Arial"/>
              <a:ea typeface="Arial"/>
              <a:cs typeface="Arial"/>
              <a:sym typeface="Arial"/>
            </a:endParaRPr>
          </a:p>
          <a:p>
            <a:pPr algn="ctr">
              <a:buSzPts val="1400"/>
            </a:pPr>
            <a:endParaRPr lang="en-US" b="1" dirty="0">
              <a:solidFill>
                <a:schemeClr val="dk1"/>
              </a:solidFill>
              <a:latin typeface="Montserrat Medium"/>
              <a:sym typeface="Montserrat Medium"/>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1384954"/>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R="0" lvl="0" algn="ctr" rtl="0">
              <a:lnSpc>
                <a:spcPct val="100000"/>
              </a:lnSpc>
              <a:spcBef>
                <a:spcPts val="0"/>
              </a:spcBef>
              <a:spcAft>
                <a:spcPts val="0"/>
              </a:spcAft>
              <a:buClr>
                <a:srgbClr val="000000"/>
              </a:buClr>
              <a:buSzPts val="1400"/>
            </a:pPr>
            <a:r>
              <a:rPr lang="en-US" sz="1400" b="1" i="0" u="none" strike="noStrike" cap="none" dirty="0">
                <a:solidFill>
                  <a:schemeClr val="dk1"/>
                </a:solidFill>
                <a:latin typeface="Montserrat Medium"/>
                <a:ea typeface="Arial"/>
                <a:cs typeface="Arial"/>
                <a:sym typeface="Montserrat Medium"/>
              </a:rPr>
              <a:t>    Dr. Seetha Chaithanya</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a:buSzPts val="1400"/>
            </a:pPr>
            <a:r>
              <a:rPr lang="en-US" b="1" dirty="0"/>
              <a:t>       Dr. Kshitij Shakya </a:t>
            </a:r>
            <a:endParaRPr lang="en-IN" b="1" dirty="0"/>
          </a:p>
          <a:p>
            <a:pPr marL="0" marR="0" lvl="0" indent="0" rtl="0">
              <a:lnSpc>
                <a:spcPct val="100000"/>
              </a:lnSpc>
              <a:spcBef>
                <a:spcPts val="0"/>
              </a:spcBef>
              <a:spcAft>
                <a:spcPts val="0"/>
              </a:spcAft>
              <a:buClr>
                <a:srgbClr val="000000"/>
              </a:buClr>
              <a:buSzPts val="1400"/>
              <a:buFont typeface="Arial"/>
              <a:buNone/>
            </a:pPr>
            <a:endParaRPr lang="en-US" sz="1400" b="1" i="0" u="none" strike="noStrike" cap="none" dirty="0">
              <a:solidFill>
                <a:schemeClr val="dk1"/>
              </a:solidFill>
              <a:latin typeface="Montserrat Medium"/>
              <a:ea typeface="Montserrat Medium"/>
              <a:cs typeface="Montserrat Medium"/>
              <a:sym typeface="Montserrat Medium"/>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4">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807517" y="622067"/>
            <a:ext cx="9943184" cy="830956"/>
          </a:xfrm>
          <a:prstGeom prst="rect">
            <a:avLst/>
          </a:prstGeom>
          <a:noFill/>
          <a:ln>
            <a:noFill/>
          </a:ln>
        </p:spPr>
        <p:txBody>
          <a:bodyPr spcFirstLastPara="1" wrap="square" lIns="91425" tIns="45700" rIns="91425" bIns="45700" anchor="t" anchorCtr="0">
            <a:spAutoFit/>
          </a:bodyPr>
          <a:lstStyle/>
          <a:p>
            <a:pPr lvl="0" algn="ctr"/>
            <a:r>
              <a:rPr lang="en-US" b="1" dirty="0"/>
              <a:t> </a:t>
            </a:r>
            <a:r>
              <a:rPr lang="en-US" sz="2400" b="1" dirty="0">
                <a:solidFill>
                  <a:schemeClr val="accent4">
                    <a:lumMod val="75000"/>
                  </a:schemeClr>
                </a:solidFill>
              </a:rPr>
              <a:t>Design and Development of a </a:t>
            </a:r>
          </a:p>
          <a:p>
            <a:pPr lvl="0" algn="ctr"/>
            <a:r>
              <a:rPr lang="en-US" sz="2400" b="1" dirty="0">
                <a:solidFill>
                  <a:schemeClr val="accent4">
                    <a:lumMod val="75000"/>
                  </a:schemeClr>
                </a:solidFill>
              </a:rPr>
              <a:t>Solar E-Bicycle with an Embedded based Smart Monitoring System</a:t>
            </a:r>
            <a:endParaRPr lang="en-US" sz="2800" dirty="0">
              <a:solidFill>
                <a:schemeClr val="accent4">
                  <a:lumMod val="75000"/>
                </a:schemeClr>
              </a:solidFill>
            </a:endParaRP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chemeClr val="accent4">
                    <a:lumMod val="75000"/>
                  </a:schemeClr>
                </a:solidFill>
                <a:latin typeface="Open Sans"/>
                <a:ea typeface="Open Sans"/>
                <a:cs typeface="Open Sans"/>
                <a:sym typeface="Open Sans"/>
              </a:rPr>
              <a:t>Review-I</a:t>
            </a:r>
            <a:endParaRPr lang="en-US" sz="2000" i="1" dirty="0">
              <a:solidFill>
                <a:schemeClr val="accent4">
                  <a:lumMod val="75000"/>
                </a:schemeClr>
              </a:solidFill>
            </a:endParaRPr>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921466" y="170809"/>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2993478"/>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695324" y="1442953"/>
            <a:ext cx="9943179" cy="923330"/>
          </a:xfrm>
          <a:prstGeom prst="rect">
            <a:avLst/>
          </a:prstGeom>
          <a:noFill/>
        </p:spPr>
        <p:txBody>
          <a:bodyPr wrap="square" rtlCol="0">
            <a:spAutoFit/>
          </a:bodyPr>
          <a:lstStyle/>
          <a:p>
            <a:pPr algn="just"/>
            <a:r>
              <a:rPr lang="en-US" sz="1800" dirty="0">
                <a:latin typeface="Verdana" panose="020B0604030504040204" pitchFamily="34" charset="0"/>
                <a:ea typeface="Verdana" panose="020B0604030504040204" pitchFamily="34" charset="0"/>
              </a:rPr>
              <a:t>To design and develop a solar-powered electric bicycle with an IoT dashboard that utilizes renewable energy, provides real-time monitoring, and promotes safe, smart, and sustainable urban mobility.</a:t>
            </a:r>
            <a:endParaRPr lang="en-IN" sz="1800"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695324" y="3737081"/>
            <a:ext cx="9943179" cy="1785104"/>
          </a:xfrm>
          <a:prstGeom prst="rect">
            <a:avLst/>
          </a:prstGeom>
          <a:noFill/>
        </p:spPr>
        <p:txBody>
          <a:bodyPr wrap="square" rtlCol="0">
            <a:spAutoFit/>
          </a:bodyPr>
          <a:lstStyle/>
          <a:p>
            <a:r>
              <a:rPr lang="en-IN" sz="1600" b="1" dirty="0">
                <a:latin typeface="Verdana" panose="020B0604030504040204" pitchFamily="34" charset="0"/>
                <a:ea typeface="Verdana" panose="020B0604030504040204" pitchFamily="34" charset="0"/>
              </a:rPr>
              <a:t>Main Goals</a:t>
            </a: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Solar + plug-in charging (continuous battery)</a:t>
            </a: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BLDC hub motor drive (efficient &amp; sustainable)</a:t>
            </a: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IoT dashboard (battery, speed, distance, solar status)</a:t>
            </a: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Smartphone connectivity (performance data &amp; alerts)</a:t>
            </a:r>
          </a:p>
          <a:p>
            <a:endParaRPr lang="en-IN" sz="1600"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1235628" y="1427117"/>
            <a:ext cx="11326761" cy="573576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IN" dirty="0">
                <a:latin typeface="Verdana" panose="020B0604030504040204" pitchFamily="34" charset="0"/>
                <a:ea typeface="Verdana" panose="020B0604030504040204" pitchFamily="34" charset="0"/>
              </a:rPr>
              <a:t> </a:t>
            </a: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 (Clearly mention milestone for objectives under each reviews)</a:t>
            </a:r>
            <a:endParaRPr dirty="0"/>
          </a:p>
        </p:txBody>
      </p:sp>
      <p:pic>
        <p:nvPicPr>
          <p:cNvPr id="7" name="Picture 6">
            <a:extLst>
              <a:ext uri="{FF2B5EF4-FFF2-40B4-BE49-F238E27FC236}">
                <a16:creationId xmlns:a16="http://schemas.microsoft.com/office/drawing/2014/main" id="{7E5541BB-68A3-D253-53F5-25802AD9C8F4}"/>
              </a:ext>
            </a:extLst>
          </p:cNvPr>
          <p:cNvPicPr>
            <a:picLocks noChangeAspect="1"/>
          </p:cNvPicPr>
          <p:nvPr/>
        </p:nvPicPr>
        <p:blipFill>
          <a:blip r:embed="rId3"/>
          <a:stretch>
            <a:fillRect/>
          </a:stretch>
        </p:blipFill>
        <p:spPr>
          <a:xfrm>
            <a:off x="306729" y="1288424"/>
            <a:ext cx="11578542" cy="4593999"/>
          </a:xfrm>
          <a:prstGeom prst="rect">
            <a:avLst/>
          </a:prstGeom>
        </p:spPr>
      </p:pic>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1000124" y="871532"/>
            <a:ext cx="11326761" cy="5986468"/>
          </a:xfrm>
          <a:prstGeom prst="rect">
            <a:avLst/>
          </a:prstGeom>
          <a:noFill/>
          <a:ln>
            <a:noFill/>
          </a:ln>
        </p:spPr>
        <p:txBody>
          <a:bodyPr spcFirstLastPara="1" wrap="square" lIns="91425" tIns="45700" rIns="91425" bIns="45700" anchor="t" anchorCtr="0">
            <a:noAutofit/>
          </a:bodyPr>
          <a:lstStyle/>
          <a:p>
            <a:r>
              <a:rPr lang="en-IN" sz="1800" b="1" dirty="0">
                <a:latin typeface="Verdana" panose="020B0604030504040204" pitchFamily="34" charset="0"/>
                <a:ea typeface="Verdana" panose="020B0604030504040204" pitchFamily="34" charset="0"/>
              </a:rPr>
              <a:t> Publications:</a:t>
            </a:r>
            <a:endParaRPr lang="en-IN" sz="1800" dirty="0">
              <a:latin typeface="Verdana" panose="020B0604030504040204" pitchFamily="34" charset="0"/>
              <a:ea typeface="Verdana" panose="020B0604030504040204" pitchFamily="34" charset="0"/>
            </a:endParaRPr>
          </a:p>
          <a:p>
            <a:r>
              <a:rPr lang="en-IN" sz="1800" dirty="0">
                <a:latin typeface="Verdana" panose="020B0604030504040204" pitchFamily="34" charset="0"/>
                <a:ea typeface="Verdana" panose="020B0604030504040204" pitchFamily="34" charset="0"/>
              </a:rPr>
              <a:t>Solar-powered bicycle techniques – T. Suresh  (2021)</a:t>
            </a:r>
          </a:p>
          <a:p>
            <a:r>
              <a:rPr lang="en-IN" sz="1800" dirty="0">
                <a:latin typeface="Verdana" panose="020B0604030504040204" pitchFamily="34" charset="0"/>
                <a:ea typeface="Verdana" panose="020B0604030504040204" pitchFamily="34" charset="0"/>
              </a:rPr>
              <a:t>Solar vehicle design – Hema Latha, (2019)</a:t>
            </a:r>
          </a:p>
          <a:p>
            <a:r>
              <a:rPr lang="en-IN" sz="1800" dirty="0">
                <a:latin typeface="Verdana" panose="020B0604030504040204" pitchFamily="34" charset="0"/>
                <a:ea typeface="Verdana" panose="020B0604030504040204" pitchFamily="34" charset="0"/>
              </a:rPr>
              <a:t>Solar bicycle implementation – P. </a:t>
            </a:r>
            <a:r>
              <a:rPr lang="en-IN" sz="1800" dirty="0" err="1">
                <a:latin typeface="Verdana" panose="020B0604030504040204" pitchFamily="34" charset="0"/>
                <a:ea typeface="Verdana" panose="020B0604030504040204" pitchFamily="34" charset="0"/>
              </a:rPr>
              <a:t>Maheswara</a:t>
            </a:r>
            <a:r>
              <a:rPr lang="en-IN" sz="1800" dirty="0">
                <a:latin typeface="Verdana" panose="020B0604030504040204" pitchFamily="34" charset="0"/>
                <a:ea typeface="Verdana" panose="020B0604030504040204" pitchFamily="34" charset="0"/>
              </a:rPr>
              <a:t> Rao, (2024)</a:t>
            </a:r>
          </a:p>
          <a:p>
            <a:r>
              <a:rPr lang="en-IN" sz="1800" dirty="0">
                <a:latin typeface="Verdana" panose="020B0604030504040204" pitchFamily="34" charset="0"/>
                <a:ea typeface="Verdana" panose="020B0604030504040204" pitchFamily="34" charset="0"/>
              </a:rPr>
              <a:t>E-bike sharing systems – S. </a:t>
            </a:r>
            <a:r>
              <a:rPr lang="en-IN" sz="1800" dirty="0" err="1">
                <a:latin typeface="Verdana" panose="020B0604030504040204" pitchFamily="34" charset="0"/>
                <a:ea typeface="Verdana" panose="020B0604030504040204" pitchFamily="34" charset="0"/>
              </a:rPr>
              <a:t>Adhisuwignjo</a:t>
            </a:r>
            <a:r>
              <a:rPr lang="en-IN" sz="1800" dirty="0">
                <a:latin typeface="Verdana" panose="020B0604030504040204" pitchFamily="34" charset="0"/>
                <a:ea typeface="Verdana" panose="020B0604030504040204" pitchFamily="34" charset="0"/>
              </a:rPr>
              <a:t>, (2017)</a:t>
            </a:r>
          </a:p>
          <a:p>
            <a:endParaRPr lang="en-IN" sz="1800" dirty="0">
              <a:latin typeface="Verdana" panose="020B0604030504040204" pitchFamily="34" charset="0"/>
              <a:ea typeface="Verdana" panose="020B0604030504040204" pitchFamily="34" charset="0"/>
            </a:endParaRPr>
          </a:p>
          <a:p>
            <a:r>
              <a:rPr lang="en-IN" sz="1800" b="1" dirty="0">
                <a:latin typeface="Verdana" panose="020B0604030504040204" pitchFamily="34" charset="0"/>
                <a:ea typeface="Verdana" panose="020B0604030504040204" pitchFamily="34" charset="0"/>
              </a:rPr>
              <a:t> Key Resources:</a:t>
            </a:r>
            <a:endParaRPr lang="en-IN" sz="1800" dirty="0">
              <a:latin typeface="Verdana" panose="020B0604030504040204" pitchFamily="34" charset="0"/>
              <a:ea typeface="Verdana" panose="020B0604030504040204" pitchFamily="34" charset="0"/>
            </a:endParaRPr>
          </a:p>
          <a:p>
            <a:r>
              <a:rPr lang="en-IN" sz="1800" dirty="0">
                <a:latin typeface="Verdana" panose="020B0604030504040204" pitchFamily="34" charset="0"/>
                <a:ea typeface="Verdana" panose="020B0604030504040204" pitchFamily="34" charset="0"/>
              </a:rPr>
              <a:t>BLDC motor &amp; controller guides</a:t>
            </a:r>
          </a:p>
          <a:p>
            <a:r>
              <a:rPr lang="en-IN" sz="1800" dirty="0">
                <a:latin typeface="Verdana" panose="020B0604030504040204" pitchFamily="34" charset="0"/>
                <a:ea typeface="Verdana" panose="020B0604030504040204" pitchFamily="34" charset="0"/>
              </a:rPr>
              <a:t>Battery &amp; BMS datasheets</a:t>
            </a:r>
          </a:p>
          <a:p>
            <a:r>
              <a:rPr lang="en-IN" sz="1800" dirty="0">
                <a:latin typeface="Verdana" panose="020B0604030504040204" pitchFamily="34" charset="0"/>
                <a:ea typeface="Verdana" panose="020B0604030504040204" pitchFamily="34" charset="0"/>
              </a:rPr>
              <a:t>MPPT charge controller datasheets</a:t>
            </a:r>
          </a:p>
          <a:p>
            <a:r>
              <a:rPr lang="en-IN" sz="1800" dirty="0">
                <a:latin typeface="Verdana" panose="020B0604030504040204" pitchFamily="34" charset="0"/>
                <a:ea typeface="Verdana" panose="020B0604030504040204" pitchFamily="34" charset="0"/>
              </a:rPr>
              <a:t>Standards: IEC 62133, IEEE 1562, IS</a:t>
            </a:r>
          </a:p>
          <a:p>
            <a:endParaRPr lang="en-IN" sz="1800" dirty="0">
              <a:latin typeface="Verdana" panose="020B0604030504040204" pitchFamily="34" charset="0"/>
              <a:ea typeface="Verdana" panose="020B0604030504040204" pitchFamily="34" charset="0"/>
            </a:endParaRPr>
          </a:p>
          <a:p>
            <a:r>
              <a:rPr lang="en-IN" sz="1800" b="1" dirty="0">
                <a:latin typeface="Verdana" panose="020B0604030504040204" pitchFamily="34" charset="0"/>
                <a:ea typeface="Verdana" panose="020B0604030504040204" pitchFamily="34" charset="0"/>
              </a:rPr>
              <a:t> Existing Implementations:</a:t>
            </a:r>
            <a:endParaRPr lang="en-IN" sz="1800" dirty="0">
              <a:latin typeface="Verdana" panose="020B0604030504040204" pitchFamily="34" charset="0"/>
              <a:ea typeface="Verdana" panose="020B0604030504040204" pitchFamily="34" charset="0"/>
            </a:endParaRPr>
          </a:p>
          <a:p>
            <a:r>
              <a:rPr lang="en-IN" sz="1800" dirty="0">
                <a:latin typeface="Verdana" panose="020B0604030504040204" pitchFamily="34" charset="0"/>
                <a:ea typeface="Verdana" panose="020B0604030504040204" pitchFamily="34" charset="0"/>
              </a:rPr>
              <a:t>Open-source e-bike hardware/software </a:t>
            </a:r>
          </a:p>
          <a:p>
            <a:r>
              <a:rPr lang="en-IN" sz="1800" dirty="0">
                <a:latin typeface="Verdana" panose="020B0604030504040204" pitchFamily="34" charset="0"/>
                <a:ea typeface="Verdana" panose="020B0604030504040204" pitchFamily="34" charset="0"/>
              </a:rPr>
              <a:t>DIY modular controllers &amp; displays</a:t>
            </a:r>
          </a:p>
          <a:p>
            <a:r>
              <a:rPr lang="en-IN" sz="1800" dirty="0">
                <a:latin typeface="Verdana" panose="020B0604030504040204" pitchFamily="34" charset="0"/>
                <a:ea typeface="Verdana" panose="020B0604030504040204" pitchFamily="34" charset="0"/>
              </a:rPr>
              <a:t>E-bike analytics &amp; instrumentation repositories</a:t>
            </a:r>
          </a:p>
          <a:p>
            <a:pPr marR="0" lvl="0" rtl="0">
              <a:lnSpc>
                <a:spcPct val="100000"/>
              </a:lnSpc>
              <a:spcBef>
                <a:spcPts val="0"/>
              </a:spcBef>
              <a:spcAft>
                <a:spcPts val="0"/>
              </a:spcAft>
            </a:pPr>
            <a:r>
              <a:rPr lang="en-IN"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452284" y="334143"/>
            <a:ext cx="10515600" cy="493857"/>
          </a:xfrm>
          <a:prstGeom prst="rect">
            <a:avLst/>
          </a:prstGeom>
          <a:noFill/>
          <a:ln>
            <a:noFill/>
          </a:ln>
        </p:spPr>
        <p:txBody>
          <a:bodyPr spcFirstLastPara="1" wrap="square" lIns="91425" tIns="45700" rIns="91425" bIns="45700" anchor="t" anchorCtr="0">
            <a:noAutofit/>
          </a:bodyPr>
          <a:lstStyle/>
          <a:p>
            <a:pPr algn="ctr"/>
            <a:r>
              <a:rPr lang="en-US" sz="2400" b="1" dirty="0">
                <a:latin typeface="Montserrat"/>
                <a:sym typeface="Montserrat"/>
              </a:rPr>
              <a:t>Proposed Architecture of the Solar E - bicycle</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599768" y="1122239"/>
            <a:ext cx="10515600"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C4B1B4F2-EFF4-40FF-AC01-46F9904719FA}"/>
              </a:ext>
            </a:extLst>
          </p:cNvPr>
          <p:cNvPicPr>
            <a:picLocks noChangeAspect="1"/>
          </p:cNvPicPr>
          <p:nvPr/>
        </p:nvPicPr>
        <p:blipFill>
          <a:blip r:embed="rId2"/>
          <a:stretch>
            <a:fillRect/>
          </a:stretch>
        </p:blipFill>
        <p:spPr>
          <a:xfrm>
            <a:off x="1526916" y="1330632"/>
            <a:ext cx="9141440" cy="4188542"/>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1005039" y="1122239"/>
            <a:ext cx="977603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panose="020B0604030504040204" pitchFamily="34" charset="0"/>
                <a:ea typeface="Verdana" panose="020B0604030504040204" pitchFamily="34" charset="0"/>
              </a:rPr>
              <a:t>Use Cases</a:t>
            </a: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Useful for connecting commuters from public transport hubs (bus, metro, train stations) to their final destination.</a:t>
            </a:r>
          </a:p>
          <a:p>
            <a:pPr lvl="0"/>
            <a:endParaRPr lang="en-IN" sz="1800"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Solar e-bikes can be rented for sightseeing, campus rides, or eco-tourism projects.</a:t>
            </a:r>
          </a:p>
          <a:p>
            <a:pPr lvl="0"/>
            <a:endParaRPr lang="en-IN" sz="1800"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Lower operational and maintenance costs compared to petrol-based vehicles.</a:t>
            </a:r>
          </a:p>
          <a:p>
            <a:pPr marL="285750" lvl="0" indent="-285750">
              <a:buFont typeface="Arial" panose="020B0604020202020204" pitchFamily="34" charset="0"/>
              <a:buChar char="•"/>
            </a:pPr>
            <a:endParaRPr lang="en-US" sz="1800"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sz="1800" dirty="0">
                <a:latin typeface="Verdana" panose="020B0604030504040204" pitchFamily="34" charset="0"/>
                <a:ea typeface="Verdana" panose="020B0604030504040204" pitchFamily="34" charset="0"/>
              </a:rPr>
              <a:t>Solar charging further reduces electricity expenses.</a:t>
            </a:r>
            <a:endParaRPr lang="en-IN" sz="18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857863" y="250707"/>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dirty="0">
                <a:latin typeface="Montserrat"/>
                <a:ea typeface="Montserrat"/>
                <a:cs typeface="Montserrat"/>
                <a:sym typeface="Montserrat"/>
              </a:rPr>
              <a:t>Main Components required for the project</a:t>
            </a:r>
            <a:r>
              <a:rPr lang="en-US" sz="2400" b="1" i="0" u="none" strike="noStrike" cap="none" dirty="0">
                <a:solidFill>
                  <a:srgbClr val="000000"/>
                </a:solidFill>
                <a:latin typeface="Montserrat"/>
                <a:ea typeface="Montserrat"/>
                <a:cs typeface="Montserrat"/>
                <a:sym typeface="Montserrat"/>
              </a:rPr>
              <a:t>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589936" y="939676"/>
            <a:ext cx="11326761" cy="423384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sz="1800" dirty="0">
              <a:latin typeface="Verdana" panose="020B0604030504040204" pitchFamily="34" charset="0"/>
              <a:ea typeface="Verdana" panose="020B0604030504040204" pitchFamily="34" charset="0"/>
            </a:endParaRPr>
          </a:p>
          <a:p>
            <a:pPr marL="285750" lvl="0" indent="-285750">
              <a:buChar char="•"/>
            </a:pPr>
            <a:r>
              <a:rPr lang="en-IN" sz="1800" dirty="0">
                <a:latin typeface="Verdana" panose="020B0604030504040204" pitchFamily="34" charset="0"/>
                <a:ea typeface="Verdana" panose="020B0604030504040204" pitchFamily="34" charset="0"/>
              </a:rPr>
              <a:t>Brushless DC HUB motor (BLDC) (</a:t>
            </a:r>
            <a:r>
              <a:rPr lang="en-IN" sz="1800" dirty="0">
                <a:solidFill>
                  <a:schemeClr val="tx1"/>
                </a:solidFill>
              </a:rPr>
              <a:t>36V,250 W)</a:t>
            </a:r>
          </a:p>
          <a:p>
            <a:pPr marL="285750" lvl="0" indent="-285750">
              <a:buChar char="•"/>
            </a:pPr>
            <a:endParaRPr lang="en-IN" sz="1800" dirty="0">
              <a:solidFill>
                <a:schemeClr val="accent6"/>
              </a:solidFill>
              <a:latin typeface="Verdana" panose="020B0604030504040204" pitchFamily="34" charset="0"/>
              <a:ea typeface="Verdana" panose="020B0604030504040204" pitchFamily="34" charset="0"/>
            </a:endParaRPr>
          </a:p>
          <a:p>
            <a:pPr marL="285750" lvl="0" indent="-285750">
              <a:buChar char="•"/>
            </a:pPr>
            <a:r>
              <a:rPr lang="en-IN" sz="1800" dirty="0">
                <a:solidFill>
                  <a:schemeClr val="accent6"/>
                </a:solidFill>
                <a:latin typeface="Verdana" panose="020B0604030504040204" pitchFamily="34" charset="0"/>
                <a:ea typeface="Verdana" panose="020B0604030504040204" pitchFamily="34" charset="0"/>
              </a:rPr>
              <a:t>Trapezoidal Controller (36V)</a:t>
            </a:r>
          </a:p>
          <a:p>
            <a:pPr marL="285750" lvl="0" indent="-285750">
              <a:buChar char="•"/>
            </a:pPr>
            <a:endParaRPr lang="en-IN" sz="1800" dirty="0">
              <a:solidFill>
                <a:schemeClr val="accent6"/>
              </a:solidFill>
              <a:latin typeface="Verdana" panose="020B0604030504040204" pitchFamily="34" charset="0"/>
              <a:ea typeface="Verdana" panose="020B0604030504040204" pitchFamily="34" charset="0"/>
            </a:endParaRPr>
          </a:p>
          <a:p>
            <a:pPr marL="285750" lvl="0" indent="-285750">
              <a:buChar char="•"/>
            </a:pPr>
            <a:r>
              <a:rPr lang="en-IN" sz="1800" dirty="0">
                <a:solidFill>
                  <a:schemeClr val="accent6"/>
                </a:solidFill>
                <a:latin typeface="Verdana" panose="020B0604030504040204" pitchFamily="34" charset="0"/>
                <a:ea typeface="Verdana" panose="020B0604030504040204" pitchFamily="34" charset="0"/>
              </a:rPr>
              <a:t>Solar panel (50W)</a:t>
            </a:r>
          </a:p>
          <a:p>
            <a:pPr marL="285750" lvl="0" indent="-285750">
              <a:buChar char="•"/>
            </a:pPr>
            <a:endParaRPr lang="en-IN" sz="1800" dirty="0">
              <a:solidFill>
                <a:schemeClr val="accent6"/>
              </a:solidFill>
              <a:latin typeface="Verdana" panose="020B0604030504040204" pitchFamily="34" charset="0"/>
              <a:ea typeface="Verdana" panose="020B0604030504040204" pitchFamily="34" charset="0"/>
            </a:endParaRPr>
          </a:p>
          <a:p>
            <a:pPr marL="285750" lvl="0" indent="-285750">
              <a:buChar char="•"/>
            </a:pPr>
            <a:r>
              <a:rPr lang="en-IN" sz="1800" dirty="0">
                <a:solidFill>
                  <a:schemeClr val="accent6"/>
                </a:solidFill>
                <a:latin typeface="Verdana" panose="020B0604030504040204" pitchFamily="34" charset="0"/>
                <a:ea typeface="Verdana" panose="020B0604030504040204" pitchFamily="34" charset="0"/>
              </a:rPr>
              <a:t>Maximum power point tracking controller (MPPT) (12/24V)</a:t>
            </a:r>
          </a:p>
          <a:p>
            <a:pPr marL="285750" lvl="0" indent="-285750">
              <a:buChar char="•"/>
            </a:pPr>
            <a:endParaRPr lang="en-IN" sz="1800" dirty="0">
              <a:solidFill>
                <a:schemeClr val="accent6"/>
              </a:solidFill>
              <a:latin typeface="Verdana" panose="020B0604030504040204" pitchFamily="34" charset="0"/>
              <a:ea typeface="Verdana" panose="020B0604030504040204" pitchFamily="34" charset="0"/>
            </a:endParaRPr>
          </a:p>
          <a:p>
            <a:pPr marL="285750" lvl="0" indent="-285750">
              <a:buChar char="•"/>
            </a:pPr>
            <a:r>
              <a:rPr lang="en-IN" sz="1800" dirty="0">
                <a:solidFill>
                  <a:schemeClr val="accent6"/>
                </a:solidFill>
                <a:latin typeface="Verdana"/>
                <a:ea typeface="Verdana"/>
              </a:rPr>
              <a:t>ESP-32</a:t>
            </a:r>
          </a:p>
          <a:p>
            <a:pPr marL="285750" lvl="0" indent="-285750">
              <a:buChar char="•"/>
            </a:pPr>
            <a:endParaRPr lang="en-IN" sz="1800" dirty="0">
              <a:solidFill>
                <a:schemeClr val="accent6"/>
              </a:solidFill>
              <a:latin typeface="Verdana" panose="020B0604030504040204" pitchFamily="34" charset="0"/>
              <a:ea typeface="Verdana" panose="020B0604030504040204" pitchFamily="34" charset="0"/>
            </a:endParaRPr>
          </a:p>
          <a:p>
            <a:pPr marL="285750" indent="-285750">
              <a:buChar char="•"/>
            </a:pPr>
            <a:r>
              <a:rPr lang="en-IN" sz="1800" dirty="0">
                <a:solidFill>
                  <a:schemeClr val="accent6"/>
                </a:solidFill>
                <a:ea typeface="Verdana"/>
              </a:rPr>
              <a:t>OLED 128*64</a:t>
            </a:r>
            <a:endParaRPr lang="en-IN" dirty="0"/>
          </a:p>
          <a:p>
            <a:pPr marL="285750" lvl="0" indent="-285750">
              <a:buFont typeface="Arial" panose="020B0604020202020204" pitchFamily="34" charset="0"/>
              <a:buChar char="•"/>
            </a:pPr>
            <a:endParaRPr lang="en-IN" sz="1800" dirty="0">
              <a:solidFill>
                <a:schemeClr val="tx1"/>
              </a:solidFill>
              <a:latin typeface="Verdana" panose="020B0604030504040204" pitchFamily="34" charset="0"/>
              <a:ea typeface="Verdana" panose="020B0604030504040204" pitchFamily="34" charset="0"/>
            </a:endParaRPr>
          </a:p>
          <a:p>
            <a:pPr lvl="0"/>
            <a:r>
              <a:rPr lang="en-IN" sz="1800"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1229190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dirty="0">
                <a:latin typeface="Montserrat"/>
                <a:sym typeface="Montserrat"/>
              </a:rPr>
              <a:t>Integration of Hardware components</a:t>
            </a:r>
            <a:endParaRPr lang="en-US" sz="1400" b="0" i="0" u="none" strike="noStrike" cap="none" dirty="0">
              <a:solidFill>
                <a:srgbClr val="000000"/>
              </a:solidFill>
              <a:latin typeface="Arial"/>
              <a:ea typeface="Arial"/>
              <a:cs typeface="Arial"/>
              <a:sym typeface="Arial"/>
            </a:endParaRPr>
          </a:p>
        </p:txBody>
      </p:sp>
      <p:pic>
        <p:nvPicPr>
          <p:cNvPr id="8" name="Picture 7">
            <a:extLst>
              <a:ext uri="{FF2B5EF4-FFF2-40B4-BE49-F238E27FC236}">
                <a16:creationId xmlns:a16="http://schemas.microsoft.com/office/drawing/2014/main" id="{23202A4B-FAC2-4365-A6F2-CF4C23885A0C}"/>
              </a:ext>
            </a:extLst>
          </p:cNvPr>
          <p:cNvPicPr>
            <a:picLocks noChangeAspect="1"/>
          </p:cNvPicPr>
          <p:nvPr/>
        </p:nvPicPr>
        <p:blipFill>
          <a:blip r:embed="rId2"/>
          <a:stretch>
            <a:fillRect/>
          </a:stretch>
        </p:blipFill>
        <p:spPr>
          <a:xfrm>
            <a:off x="2942850" y="1145725"/>
            <a:ext cx="7453229" cy="3955999"/>
          </a:xfrm>
          <a:prstGeom prst="rect">
            <a:avLst/>
          </a:prstGeom>
        </p:spPr>
      </p:pic>
    </p:spTree>
    <p:extLst>
      <p:ext uri="{BB962C8B-B14F-4D97-AF65-F5344CB8AC3E}">
        <p14:creationId xmlns:p14="http://schemas.microsoft.com/office/powerpoint/2010/main" val="276146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Arial"/>
                <a:cs typeface="Arial"/>
                <a:sym typeface="Montserrat"/>
              </a:rPr>
              <a:t>The </a:t>
            </a:r>
            <a:r>
              <a:rPr lang="en-US" sz="2400" b="1" dirty="0">
                <a:latin typeface="Montserrat"/>
                <a:sym typeface="Montserrat"/>
              </a:rPr>
              <a:t>Integration of IOT Dashboard for real time monitoring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r>
              <a:rPr lang="en-US" sz="1800" b="1" dirty="0"/>
              <a:t>Monitoring Features</a:t>
            </a:r>
            <a:endParaRPr lang="en-US" sz="1800" dirty="0"/>
          </a:p>
          <a:p>
            <a:r>
              <a:rPr lang="en-US" sz="1800" b="1" dirty="0"/>
              <a:t>Real-time Monitoring</a:t>
            </a:r>
            <a:endParaRPr lang="en-US" sz="1800" dirty="0"/>
          </a:p>
          <a:p>
            <a:pPr lvl="1"/>
            <a:r>
              <a:rPr lang="en-US" sz="1800" dirty="0"/>
              <a:t>Battery %, speed, distance, solar input</a:t>
            </a:r>
          </a:p>
          <a:p>
            <a:r>
              <a:rPr lang="en-US" sz="1800" b="1" dirty="0"/>
              <a:t>Performance Insights</a:t>
            </a:r>
            <a:endParaRPr lang="en-US" sz="1800" dirty="0"/>
          </a:p>
          <a:p>
            <a:pPr lvl="1"/>
            <a:r>
              <a:rPr lang="en-US" sz="1800" dirty="0"/>
              <a:t>Trip history, energy usage     </a:t>
            </a:r>
          </a:p>
          <a:p>
            <a:pPr lvl="1"/>
            <a:endParaRPr lang="en-US" sz="1800" dirty="0"/>
          </a:p>
          <a:p>
            <a:pPr lvl="1"/>
            <a:endParaRPr lang="en-US" dirty="0"/>
          </a:p>
          <a:p>
            <a:pPr lvl="1"/>
            <a:endParaRPr lang="en-US" dirty="0"/>
          </a:p>
          <a:p>
            <a:pPr lvl="1"/>
            <a:endParaRPr lang="en-US" dirty="0"/>
          </a:p>
          <a:p>
            <a:pPr lvl="1"/>
            <a:endParaRPr lang="en-US" dirty="0"/>
          </a:p>
          <a:p>
            <a:pPr lvl="1"/>
            <a:r>
              <a:rPr lang="en-US" dirty="0"/>
              <a:t>                                                                                  </a:t>
            </a:r>
          </a:p>
        </p:txBody>
      </p:sp>
      <p:sp>
        <p:nvSpPr>
          <p:cNvPr id="7" name="TextBox 6">
            <a:extLst>
              <a:ext uri="{FF2B5EF4-FFF2-40B4-BE49-F238E27FC236}">
                <a16:creationId xmlns:a16="http://schemas.microsoft.com/office/drawing/2014/main" id="{9E3D656A-0E32-2E9C-6694-F6E6689C9454}"/>
              </a:ext>
            </a:extLst>
          </p:cNvPr>
          <p:cNvSpPr txBox="1"/>
          <p:nvPr/>
        </p:nvSpPr>
        <p:spPr>
          <a:xfrm>
            <a:off x="7737987" y="871532"/>
            <a:ext cx="3677265" cy="1477328"/>
          </a:xfrm>
          <a:prstGeom prst="rect">
            <a:avLst/>
          </a:prstGeom>
          <a:noFill/>
        </p:spPr>
        <p:txBody>
          <a:bodyPr wrap="square" rtlCol="0">
            <a:spAutoFit/>
          </a:bodyPr>
          <a:lstStyle/>
          <a:p>
            <a:r>
              <a:rPr lang="en-US" sz="1800" b="1" dirty="0"/>
              <a:t>App &amp; Connectivity</a:t>
            </a:r>
            <a:endParaRPr lang="en-US" sz="1800" dirty="0"/>
          </a:p>
          <a:p>
            <a:r>
              <a:rPr lang="en-US" sz="1800" dirty="0"/>
              <a:t> </a:t>
            </a:r>
            <a:r>
              <a:rPr lang="en-US" sz="1800" b="1" dirty="0"/>
              <a:t>Smartphone App</a:t>
            </a:r>
            <a:endParaRPr lang="en-US" sz="1800" dirty="0"/>
          </a:p>
          <a:p>
            <a:pPr lvl="1"/>
            <a:r>
              <a:rPr lang="en-US" sz="1800" dirty="0"/>
              <a:t>Live data &amp; alerts</a:t>
            </a:r>
          </a:p>
          <a:p>
            <a:r>
              <a:rPr lang="en-US" sz="1800" dirty="0"/>
              <a:t> </a:t>
            </a:r>
            <a:r>
              <a:rPr lang="en-US" sz="1800" b="1" dirty="0"/>
              <a:t>Connectivity</a:t>
            </a:r>
            <a:endParaRPr lang="en-US" sz="1800" dirty="0"/>
          </a:p>
          <a:p>
            <a:pPr lvl="1"/>
            <a:r>
              <a:rPr lang="en-US" sz="1800" dirty="0"/>
              <a:t>Bluetooth / Wi-Fi integration</a:t>
            </a:r>
          </a:p>
        </p:txBody>
      </p:sp>
      <p:pic>
        <p:nvPicPr>
          <p:cNvPr id="9" name="Picture 8">
            <a:extLst>
              <a:ext uri="{FF2B5EF4-FFF2-40B4-BE49-F238E27FC236}">
                <a16:creationId xmlns:a16="http://schemas.microsoft.com/office/drawing/2014/main" id="{AE8DE930-867D-CC0C-9D22-2F6C9F8B7D0A}"/>
              </a:ext>
            </a:extLst>
          </p:cNvPr>
          <p:cNvPicPr>
            <a:picLocks noChangeAspect="1"/>
          </p:cNvPicPr>
          <p:nvPr/>
        </p:nvPicPr>
        <p:blipFill>
          <a:blip r:embed="rId2"/>
          <a:stretch>
            <a:fillRect/>
          </a:stretch>
        </p:blipFill>
        <p:spPr>
          <a:xfrm>
            <a:off x="7905270" y="2834679"/>
            <a:ext cx="2575783" cy="2598645"/>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B63E2164-C47F-00B3-D769-1AF1932DAD4C}"/>
              </a:ext>
            </a:extLst>
          </p:cNvPr>
          <p:cNvPicPr>
            <a:picLocks noChangeAspect="1"/>
          </p:cNvPicPr>
          <p:nvPr/>
        </p:nvPicPr>
        <p:blipFill>
          <a:blip r:embed="rId3"/>
          <a:stretch>
            <a:fillRect/>
          </a:stretch>
        </p:blipFill>
        <p:spPr>
          <a:xfrm>
            <a:off x="619431" y="2834679"/>
            <a:ext cx="3128347" cy="26003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38600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545A9-8441-7EE9-20C0-64926C1EDE3B}"/>
              </a:ext>
            </a:extLst>
          </p:cNvPr>
          <p:cNvSpPr>
            <a:spLocks noGrp="1"/>
          </p:cNvSpPr>
          <p:nvPr>
            <p:ph type="title"/>
          </p:nvPr>
        </p:nvSpPr>
        <p:spPr>
          <a:prstGeom prst="rect">
            <a:avLst/>
          </a:prstGeom>
        </p:spPr>
        <p:txBody>
          <a:bodyPr>
            <a:normAutofit/>
          </a:bodyPr>
          <a:lstStyle/>
          <a:p>
            <a:r>
              <a:rPr lang="en-IN" sz="2000" dirty="0"/>
              <a:t>Software Integration in IoT Devices</a:t>
            </a:r>
          </a:p>
        </p:txBody>
      </p:sp>
      <p:sp>
        <p:nvSpPr>
          <p:cNvPr id="6" name="Text Placeholder 5">
            <a:extLst>
              <a:ext uri="{FF2B5EF4-FFF2-40B4-BE49-F238E27FC236}">
                <a16:creationId xmlns:a16="http://schemas.microsoft.com/office/drawing/2014/main" id="{F6ED60E5-77F1-0FF9-072F-915E45F7C2FB}"/>
              </a:ext>
            </a:extLst>
          </p:cNvPr>
          <p:cNvSpPr>
            <a:spLocks noGrp="1"/>
          </p:cNvSpPr>
          <p:nvPr>
            <p:ph type="body" idx="1"/>
          </p:nvPr>
        </p:nvSpPr>
        <p:spPr>
          <a:prstGeom prst="rect">
            <a:avLst/>
          </a:prstGeom>
        </p:spPr>
        <p:txBody>
          <a:bodyPr>
            <a:normAutofit/>
          </a:bodyPr>
          <a:lstStyle/>
          <a:p>
            <a:pPr marL="114300" indent="0">
              <a:buNone/>
            </a:pPr>
            <a:r>
              <a:rPr lang="nn-NO" sz="2000" b="1" dirty="0">
                <a:latin typeface="Candara" panose="020E0502030303020204" pitchFamily="34" charset="0"/>
              </a:rPr>
              <a:t>OLED Design for E-Bicycle</a:t>
            </a:r>
          </a:p>
          <a:p>
            <a:pPr marL="114300" indent="0">
              <a:buNone/>
            </a:pPr>
            <a:r>
              <a:rPr lang="en-IN" sz="2000" dirty="0">
                <a:latin typeface="+mn-lt"/>
              </a:rPr>
              <a:t>IOT components:</a:t>
            </a:r>
          </a:p>
          <a:p>
            <a:pPr marL="571500" indent="-457200">
              <a:buAutoNum type="arabicPeriod"/>
            </a:pPr>
            <a:r>
              <a:rPr lang="en-US" sz="2000" dirty="0">
                <a:latin typeface="+mj-lt"/>
              </a:rPr>
              <a:t>ESP-32 </a:t>
            </a:r>
          </a:p>
          <a:p>
            <a:pPr marL="571500" indent="-457200">
              <a:buAutoNum type="arabicPeriod"/>
            </a:pPr>
            <a:r>
              <a:rPr lang="en-US" sz="2000" dirty="0">
                <a:latin typeface="+mj-lt"/>
              </a:rPr>
              <a:t> OLED 128*64 </a:t>
            </a:r>
          </a:p>
          <a:p>
            <a:pPr marL="571500" indent="-457200">
              <a:buAutoNum type="arabicPeriod"/>
            </a:pPr>
            <a:r>
              <a:rPr lang="en-US" sz="2000" dirty="0">
                <a:latin typeface="+mj-lt"/>
              </a:rPr>
              <a:t> Connection ports </a:t>
            </a:r>
          </a:p>
          <a:p>
            <a:pPr marL="571500" indent="-457200">
              <a:buAutoNum type="arabicPeriod"/>
            </a:pPr>
            <a:r>
              <a:rPr lang="en-US" sz="2000" dirty="0">
                <a:latin typeface="+mj-lt"/>
              </a:rPr>
              <a:t> DS3231 RTC MODULE </a:t>
            </a:r>
          </a:p>
          <a:p>
            <a:pPr marL="571500" indent="-457200">
              <a:buAutoNum type="arabicPeriod"/>
            </a:pPr>
            <a:r>
              <a:rPr lang="en-US" sz="2000" dirty="0">
                <a:latin typeface="+mj-lt"/>
              </a:rPr>
              <a:t> CR2032 </a:t>
            </a:r>
          </a:p>
          <a:p>
            <a:pPr marL="571500" indent="-457200">
              <a:buAutoNum type="arabicPeriod"/>
            </a:pPr>
            <a:r>
              <a:rPr lang="en-US" sz="2000" dirty="0">
                <a:latin typeface="+mj-lt"/>
              </a:rPr>
              <a:t> SDCARD </a:t>
            </a:r>
            <a:endParaRPr lang="en-IN" sz="2000" dirty="0">
              <a:latin typeface="+mj-lt"/>
            </a:endParaRPr>
          </a:p>
        </p:txBody>
      </p:sp>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a:prstGeom prst="rect">
            <a:avLst/>
          </a:prstGeom>
        </p:spPr>
        <p:txBody>
          <a:bodyPr/>
          <a:lstStyle/>
          <a:p>
            <a:pPr marL="0" lvl="0" indent="0" algn="r" rtl="0">
              <a:spcBef>
                <a:spcPts val="0"/>
              </a:spcBef>
              <a:spcAft>
                <a:spcPts val="0"/>
              </a:spcAft>
              <a:buNone/>
            </a:pPr>
            <a:fld id="{00000000-1234-1234-1234-123412341234}" type="slidenum">
              <a:rPr lang="en-US" smtClean="0"/>
              <a:t>10</a:t>
            </a:fld>
            <a:endParaRPr lang="en-US" dirty="0"/>
          </a:p>
        </p:txBody>
      </p:sp>
    </p:spTree>
    <p:extLst>
      <p:ext uri="{BB962C8B-B14F-4D97-AF65-F5344CB8AC3E}">
        <p14:creationId xmlns:p14="http://schemas.microsoft.com/office/powerpoint/2010/main" val="567826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2BBE44-B4DF-7B75-7E35-2D67F1EEED66}"/>
              </a:ext>
            </a:extLst>
          </p:cNvPr>
          <p:cNvSpPr>
            <a:spLocks noGrp="1"/>
          </p:cNvSpPr>
          <p:nvPr>
            <p:ph type="body" idx="1"/>
          </p:nvPr>
        </p:nvSpPr>
        <p:spPr>
          <a:xfrm>
            <a:off x="415600" y="245806"/>
            <a:ext cx="11360700" cy="5846027"/>
          </a:xfrm>
        </p:spPr>
        <p:txBody>
          <a:bodyPr/>
          <a:lstStyle/>
          <a:p>
            <a:pPr marL="114300" indent="0">
              <a:buNone/>
            </a:pPr>
            <a:endParaRPr lang="en-IN" dirty="0">
              <a:latin typeface="+mn-lt"/>
            </a:endParaRPr>
          </a:p>
          <a:p>
            <a:pPr marL="114300" indent="0">
              <a:buNone/>
            </a:pPr>
            <a:r>
              <a:rPr lang="en-IN" sz="2000" b="1" dirty="0">
                <a:latin typeface="+mn-lt"/>
              </a:rPr>
              <a:t>ESP-32</a:t>
            </a:r>
          </a:p>
        </p:txBody>
      </p:sp>
      <p:sp>
        <p:nvSpPr>
          <p:cNvPr id="4" name="Slide Number Placeholder 3">
            <a:extLst>
              <a:ext uri="{FF2B5EF4-FFF2-40B4-BE49-F238E27FC236}">
                <a16:creationId xmlns:a16="http://schemas.microsoft.com/office/drawing/2014/main" id="{4CF325DF-B816-5AAC-440F-4162D940F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730DEE59-3687-A71E-834E-A3164768463A}"/>
              </a:ext>
            </a:extLst>
          </p:cNvPr>
          <p:cNvPicPr>
            <a:picLocks noChangeAspect="1"/>
          </p:cNvPicPr>
          <p:nvPr/>
        </p:nvPicPr>
        <p:blipFill>
          <a:blip r:embed="rId3"/>
          <a:stretch>
            <a:fillRect/>
          </a:stretch>
        </p:blipFill>
        <p:spPr>
          <a:xfrm>
            <a:off x="920524" y="1309858"/>
            <a:ext cx="2394610" cy="3516409"/>
          </a:xfrm>
          <a:prstGeom prst="rect">
            <a:avLst/>
          </a:prstGeom>
        </p:spPr>
      </p:pic>
      <p:sp>
        <p:nvSpPr>
          <p:cNvPr id="14" name="TextBox 13">
            <a:extLst>
              <a:ext uri="{FF2B5EF4-FFF2-40B4-BE49-F238E27FC236}">
                <a16:creationId xmlns:a16="http://schemas.microsoft.com/office/drawing/2014/main" id="{23A42AA9-5C64-FF9B-ECCB-69AD66F3FB27}"/>
              </a:ext>
            </a:extLst>
          </p:cNvPr>
          <p:cNvSpPr txBox="1"/>
          <p:nvPr/>
        </p:nvSpPr>
        <p:spPr>
          <a:xfrm>
            <a:off x="3519948" y="1592826"/>
            <a:ext cx="7108723" cy="3516409"/>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944AD038-51C6-8061-FA91-C904F1508DA9}"/>
              </a:ext>
            </a:extLst>
          </p:cNvPr>
          <p:cNvSpPr txBox="1"/>
          <p:nvPr/>
        </p:nvSpPr>
        <p:spPr>
          <a:xfrm>
            <a:off x="4457795" y="966085"/>
            <a:ext cx="640376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900" dirty="0"/>
              <a:t>It has built-in Wi-Fi &amp; Bluetooth, so no extra communication modules are needed.</a:t>
            </a:r>
          </a:p>
          <a:p>
            <a:pPr marL="342900" indent="-342900">
              <a:buAutoNum type="arabicPeriod"/>
            </a:pPr>
            <a:endParaRPr lang="en-US" sz="1900" dirty="0"/>
          </a:p>
          <a:p>
            <a:pPr marL="342900" indent="-342900">
              <a:buAutoNum type="arabicPeriod"/>
            </a:pPr>
            <a:r>
              <a:rPr lang="en-US" sz="1900" dirty="0"/>
              <a:t>It gives high processing speed, enough for sensors + OLED + IoT tasks together.</a:t>
            </a:r>
          </a:p>
          <a:p>
            <a:pPr marL="342900" indent="-342900">
              <a:buAutoNum type="arabicPeriod"/>
            </a:pPr>
            <a:endParaRPr lang="en-US" sz="1900" dirty="0"/>
          </a:p>
          <a:p>
            <a:pPr marL="342900" indent="-342900">
              <a:buAutoNum type="arabicPeriod"/>
            </a:pPr>
            <a:r>
              <a:rPr lang="en-US" sz="1900" dirty="0"/>
              <a:t>It supports all required interfaces (I2C, SPI, ADC), so all sensors and OLED can connect easily.</a:t>
            </a:r>
          </a:p>
          <a:p>
            <a:pPr marL="342900" indent="-342900">
              <a:buAutoNum type="arabicPeriod"/>
            </a:pPr>
            <a:endParaRPr lang="en-US" sz="1900" dirty="0"/>
          </a:p>
          <a:p>
            <a:pPr marL="342900" indent="-342900">
              <a:buAutoNum type="arabicPeriod"/>
            </a:pPr>
            <a:r>
              <a:rPr lang="en-US" sz="1900" dirty="0"/>
              <a:t>It is low-power, making it perfect for a solar-powered bicycle.</a:t>
            </a:r>
          </a:p>
          <a:p>
            <a:pPr marL="342900" indent="-342900">
              <a:buAutoNum type="arabicPeriod"/>
            </a:pPr>
            <a:endParaRPr lang="en-US" sz="1900" dirty="0"/>
          </a:p>
          <a:p>
            <a:pPr marL="342900" indent="-342900">
              <a:buAutoNum type="arabicPeriod"/>
            </a:pPr>
            <a:r>
              <a:rPr lang="en-US" sz="1900" dirty="0"/>
              <a:t>It is cheap and easy to program, reducing project cost and complexity.</a:t>
            </a:r>
          </a:p>
          <a:p>
            <a:pPr algn="l"/>
            <a:endParaRPr lang="en-US" dirty="0"/>
          </a:p>
        </p:txBody>
      </p:sp>
    </p:spTree>
    <p:extLst>
      <p:ext uri="{BB962C8B-B14F-4D97-AF65-F5344CB8AC3E}">
        <p14:creationId xmlns:p14="http://schemas.microsoft.com/office/powerpoint/2010/main" val="1595432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60103-D65C-87E1-7F20-91811D5A01A2}"/>
              </a:ext>
            </a:extLst>
          </p:cNvPr>
          <p:cNvSpPr>
            <a:spLocks noGrp="1"/>
          </p:cNvSpPr>
          <p:nvPr>
            <p:ph type="title"/>
          </p:nvPr>
        </p:nvSpPr>
        <p:spPr/>
        <p:txBody>
          <a:bodyPr>
            <a:normAutofit/>
          </a:bodyPr>
          <a:lstStyle/>
          <a:p>
            <a:r>
              <a:rPr lang="en-US" sz="1900" b="1" dirty="0">
                <a:latin typeface="Arial"/>
              </a:rPr>
              <a:t>OLED 128*64</a:t>
            </a:r>
          </a:p>
        </p:txBody>
      </p:sp>
      <p:sp>
        <p:nvSpPr>
          <p:cNvPr id="3" name="Text Placeholder 2">
            <a:extLst>
              <a:ext uri="{FF2B5EF4-FFF2-40B4-BE49-F238E27FC236}">
                <a16:creationId xmlns:a16="http://schemas.microsoft.com/office/drawing/2014/main" id="{FD20AA39-8470-93A3-4BAB-C65397C20D70}"/>
              </a:ext>
            </a:extLst>
          </p:cNvPr>
          <p:cNvSpPr>
            <a:spLocks noGrp="1"/>
          </p:cNvSpPr>
          <p:nvPr>
            <p:ph type="body" idx="1"/>
          </p:nvPr>
        </p:nvSpPr>
        <p:spPr>
          <a:xfrm>
            <a:off x="4035099" y="1536633"/>
            <a:ext cx="7741201" cy="4196612"/>
          </a:xfrm>
        </p:spPr>
        <p:txBody>
          <a:bodyPr/>
          <a:lstStyle/>
          <a:p>
            <a:r>
              <a:rPr lang="en-US" sz="1900" dirty="0">
                <a:latin typeface="Arial"/>
              </a:rPr>
              <a:t>OLED means Organic LED – it produces its own light, so no backlight is needed.</a:t>
            </a:r>
          </a:p>
          <a:p>
            <a:r>
              <a:rPr lang="en-US" sz="1900" dirty="0">
                <a:latin typeface="Arial"/>
              </a:rPr>
              <a:t>The resolution is 128×64, which gives clear text and graphics.</a:t>
            </a:r>
          </a:p>
          <a:p>
            <a:r>
              <a:rPr lang="en-US" sz="1900" dirty="0">
                <a:latin typeface="Arial"/>
              </a:rPr>
              <a:t>It has high contrast and bright display, easy to see even in sunlight (good for solar bicycle).</a:t>
            </a:r>
          </a:p>
          <a:p>
            <a:r>
              <a:rPr lang="en-US" sz="1900" dirty="0">
                <a:latin typeface="Arial"/>
              </a:rPr>
              <a:t>Low power consumption, makes it suitable for battery-powered and IoT projects.</a:t>
            </a:r>
          </a:p>
          <a:p>
            <a:r>
              <a:rPr lang="en-US" sz="1900" dirty="0">
                <a:latin typeface="Arial"/>
              </a:rPr>
              <a:t>Uses I2C or SPI interface, so it connects easily with ESP-32.</a:t>
            </a:r>
          </a:p>
          <a:p>
            <a:r>
              <a:rPr lang="en-US" sz="1900" dirty="0">
                <a:latin typeface="Arial"/>
              </a:rPr>
              <a:t>Displays text, icons, battery level, speed, voltage, current, etc.</a:t>
            </a:r>
          </a:p>
          <a:p>
            <a:endParaRPr lang="en-US" sz="1900" dirty="0">
              <a:latin typeface="Arial"/>
            </a:endParaRPr>
          </a:p>
        </p:txBody>
      </p:sp>
      <p:sp>
        <p:nvSpPr>
          <p:cNvPr id="4" name="Slide Number Placeholder 3">
            <a:extLst>
              <a:ext uri="{FF2B5EF4-FFF2-40B4-BE49-F238E27FC236}">
                <a16:creationId xmlns:a16="http://schemas.microsoft.com/office/drawing/2014/main" id="{300753A5-7244-BFB2-39F7-1529862898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12</a:t>
            </a:fld>
            <a:endParaRPr lang="en-US"/>
          </a:p>
        </p:txBody>
      </p:sp>
      <p:pic>
        <p:nvPicPr>
          <p:cNvPr id="5" name="Picture 4">
            <a:extLst>
              <a:ext uri="{FF2B5EF4-FFF2-40B4-BE49-F238E27FC236}">
                <a16:creationId xmlns:a16="http://schemas.microsoft.com/office/drawing/2014/main" id="{F9D0C0F5-07D1-788B-A837-F3B572835CAF}"/>
              </a:ext>
            </a:extLst>
          </p:cNvPr>
          <p:cNvPicPr>
            <a:picLocks noChangeAspect="1"/>
          </p:cNvPicPr>
          <p:nvPr/>
        </p:nvPicPr>
        <p:blipFill>
          <a:blip r:embed="rId2"/>
          <a:stretch>
            <a:fillRect/>
          </a:stretch>
        </p:blipFill>
        <p:spPr>
          <a:xfrm>
            <a:off x="413217" y="1720105"/>
            <a:ext cx="3106830" cy="3025586"/>
          </a:xfrm>
          <a:prstGeom prst="rect">
            <a:avLst/>
          </a:prstGeom>
        </p:spPr>
      </p:pic>
    </p:spTree>
    <p:extLst>
      <p:ext uri="{BB962C8B-B14F-4D97-AF65-F5344CB8AC3E}">
        <p14:creationId xmlns:p14="http://schemas.microsoft.com/office/powerpoint/2010/main" val="2122589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11B7-658D-76B9-31F4-0F350DB4DB35}"/>
              </a:ext>
            </a:extLst>
          </p:cNvPr>
          <p:cNvSpPr>
            <a:spLocks noGrp="1"/>
          </p:cNvSpPr>
          <p:nvPr>
            <p:ph type="title"/>
          </p:nvPr>
        </p:nvSpPr>
        <p:spPr/>
        <p:txBody>
          <a:bodyPr>
            <a:normAutofit/>
          </a:bodyPr>
          <a:lstStyle/>
          <a:p>
            <a:r>
              <a:rPr lang="en-US" sz="1800" b="1" dirty="0">
                <a:latin typeface="Arial"/>
              </a:rPr>
              <a:t>DS3231 RTC MODULE</a:t>
            </a:r>
          </a:p>
        </p:txBody>
      </p:sp>
      <p:sp>
        <p:nvSpPr>
          <p:cNvPr id="3" name="Text Placeholder 2">
            <a:extLst>
              <a:ext uri="{FF2B5EF4-FFF2-40B4-BE49-F238E27FC236}">
                <a16:creationId xmlns:a16="http://schemas.microsoft.com/office/drawing/2014/main" id="{F1919D7F-73EB-DAEA-D5FB-73EF9F411D4B}"/>
              </a:ext>
            </a:extLst>
          </p:cNvPr>
          <p:cNvSpPr>
            <a:spLocks noGrp="1"/>
          </p:cNvSpPr>
          <p:nvPr>
            <p:ph type="body" idx="1"/>
          </p:nvPr>
        </p:nvSpPr>
        <p:spPr>
          <a:xfrm>
            <a:off x="4347079" y="1348894"/>
            <a:ext cx="7429221" cy="4742939"/>
          </a:xfrm>
        </p:spPr>
        <p:txBody>
          <a:bodyPr/>
          <a:lstStyle/>
          <a:p>
            <a:r>
              <a:rPr lang="en-US" sz="1900" b="1" dirty="0">
                <a:latin typeface="Arial"/>
              </a:rPr>
              <a:t>RTC (Real-Time Clock)</a:t>
            </a:r>
            <a:r>
              <a:rPr lang="en-US" sz="1900" dirty="0">
                <a:latin typeface="Arial"/>
              </a:rPr>
              <a:t> – it keeps accurate time (hours, minutes, seconds, date).</a:t>
            </a:r>
          </a:p>
          <a:p>
            <a:endParaRPr lang="en-US" sz="1900" dirty="0">
              <a:latin typeface="Arial"/>
            </a:endParaRPr>
          </a:p>
          <a:p>
            <a:r>
              <a:rPr lang="en-US" sz="1900" b="1" dirty="0">
                <a:latin typeface="Arial"/>
              </a:rPr>
              <a:t>DS3231 is a highly accurate RTC</a:t>
            </a:r>
            <a:r>
              <a:rPr lang="en-US" sz="1900" dirty="0">
                <a:latin typeface="Arial"/>
              </a:rPr>
              <a:t> with very low time error because it has a built-in temperature-compensated crystal oscillator.</a:t>
            </a:r>
          </a:p>
          <a:p>
            <a:r>
              <a:rPr lang="en-US" sz="1900" dirty="0">
                <a:latin typeface="Arial"/>
              </a:rPr>
              <a:t>It works even when the main power is OFF because it has a </a:t>
            </a:r>
            <a:r>
              <a:rPr lang="en-US" sz="1900" b="1" dirty="0">
                <a:latin typeface="Arial"/>
              </a:rPr>
              <a:t>backup battery</a:t>
            </a:r>
            <a:r>
              <a:rPr lang="en-US" sz="1900" dirty="0">
                <a:latin typeface="Arial"/>
              </a:rPr>
              <a:t>.</a:t>
            </a:r>
          </a:p>
          <a:p>
            <a:r>
              <a:rPr lang="en-US" sz="1900" dirty="0">
                <a:latin typeface="Arial"/>
              </a:rPr>
              <a:t>Uses </a:t>
            </a:r>
            <a:r>
              <a:rPr lang="en-US" sz="1900" b="1" dirty="0">
                <a:latin typeface="Arial"/>
              </a:rPr>
              <a:t>I2C communication</a:t>
            </a:r>
            <a:r>
              <a:rPr lang="en-US" sz="1900" dirty="0">
                <a:latin typeface="Arial"/>
              </a:rPr>
              <a:t>, so it easily connects with ESP-32.</a:t>
            </a:r>
          </a:p>
          <a:p>
            <a:pPr marL="114300" indent="0">
              <a:buNone/>
            </a:pPr>
            <a:endParaRPr lang="en-US" sz="1900" dirty="0">
              <a:latin typeface="Arial"/>
            </a:endParaRPr>
          </a:p>
          <a:p>
            <a:r>
              <a:rPr lang="en-US" sz="1900" dirty="0">
                <a:latin typeface="Arial"/>
              </a:rPr>
              <a:t>Used to display </a:t>
            </a:r>
            <a:r>
              <a:rPr lang="en-US" sz="1900" b="1" dirty="0">
                <a:latin typeface="Arial"/>
              </a:rPr>
              <a:t>real-time clock, date, alarms, logging time</a:t>
            </a:r>
            <a:r>
              <a:rPr lang="en-US" sz="1900" dirty="0">
                <a:latin typeface="Arial"/>
              </a:rPr>
              <a:t>, and scheduling functions in IoT projects.</a:t>
            </a:r>
          </a:p>
          <a:p>
            <a:endParaRPr lang="en-US" sz="1900" dirty="0">
              <a:latin typeface="Arial"/>
            </a:endParaRPr>
          </a:p>
        </p:txBody>
      </p:sp>
      <p:sp>
        <p:nvSpPr>
          <p:cNvPr id="4" name="Slide Number Placeholder 3">
            <a:extLst>
              <a:ext uri="{FF2B5EF4-FFF2-40B4-BE49-F238E27FC236}">
                <a16:creationId xmlns:a16="http://schemas.microsoft.com/office/drawing/2014/main" id="{61BD4204-8BC9-3C5A-491C-237B8C1E6B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13</a:t>
            </a:fld>
            <a:endParaRPr lang="en-US"/>
          </a:p>
        </p:txBody>
      </p:sp>
      <p:pic>
        <p:nvPicPr>
          <p:cNvPr id="5" name="Picture 4">
            <a:extLst>
              <a:ext uri="{FF2B5EF4-FFF2-40B4-BE49-F238E27FC236}">
                <a16:creationId xmlns:a16="http://schemas.microsoft.com/office/drawing/2014/main" id="{8970F6F4-3435-8E8B-38EE-869F5753F5A9}"/>
              </a:ext>
            </a:extLst>
          </p:cNvPr>
          <p:cNvPicPr>
            <a:picLocks noChangeAspect="1"/>
          </p:cNvPicPr>
          <p:nvPr/>
        </p:nvPicPr>
        <p:blipFill>
          <a:blip r:embed="rId2"/>
          <a:srcRect t="10879" r="18530" b="418"/>
          <a:stretch>
            <a:fillRect/>
          </a:stretch>
        </p:blipFill>
        <p:spPr>
          <a:xfrm>
            <a:off x="645560" y="1907761"/>
            <a:ext cx="3037745" cy="2744930"/>
          </a:xfrm>
          <a:prstGeom prst="rect">
            <a:avLst/>
          </a:prstGeom>
        </p:spPr>
      </p:pic>
    </p:spTree>
    <p:extLst>
      <p:ext uri="{BB962C8B-B14F-4D97-AF65-F5344CB8AC3E}">
        <p14:creationId xmlns:p14="http://schemas.microsoft.com/office/powerpoint/2010/main" val="153468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C744-9DA8-B318-93CF-476407212338}"/>
              </a:ext>
            </a:extLst>
          </p:cNvPr>
          <p:cNvSpPr>
            <a:spLocks noGrp="1"/>
          </p:cNvSpPr>
          <p:nvPr>
            <p:ph type="title" idx="4294967295"/>
          </p:nvPr>
        </p:nvSpPr>
        <p:spPr>
          <a:xfrm>
            <a:off x="0" y="593725"/>
            <a:ext cx="11360150" cy="539750"/>
          </a:xfrm>
          <a:prstGeom prst="rect">
            <a:avLst/>
          </a:prstGeom>
        </p:spPr>
        <p:txBody>
          <a:bodyPr>
            <a:normAutofit/>
          </a:bodyPr>
          <a:lstStyle/>
          <a:p>
            <a:r>
              <a:rPr lang="en-US" sz="1800" b="1" dirty="0">
                <a:latin typeface="Arial"/>
              </a:rPr>
              <a:t>RESULTS</a:t>
            </a:r>
          </a:p>
        </p:txBody>
      </p:sp>
      <p:sp>
        <p:nvSpPr>
          <p:cNvPr id="4" name="Slide Number Placeholder 3">
            <a:extLst>
              <a:ext uri="{FF2B5EF4-FFF2-40B4-BE49-F238E27FC236}">
                <a16:creationId xmlns:a16="http://schemas.microsoft.com/office/drawing/2014/main" id="{D2F062A1-21BC-9B94-84DE-0E12626D142A}"/>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a:t>14</a:t>
            </a:fld>
            <a:endParaRPr lang="en-US"/>
          </a:p>
        </p:txBody>
      </p:sp>
      <p:pic>
        <p:nvPicPr>
          <p:cNvPr id="5" name="Picture 4">
            <a:extLst>
              <a:ext uri="{FF2B5EF4-FFF2-40B4-BE49-F238E27FC236}">
                <a16:creationId xmlns:a16="http://schemas.microsoft.com/office/drawing/2014/main" id="{84DFCA08-45B3-AD52-E93B-BEB5BBF3C086}"/>
              </a:ext>
            </a:extLst>
          </p:cNvPr>
          <p:cNvPicPr>
            <a:picLocks noChangeAspect="1"/>
          </p:cNvPicPr>
          <p:nvPr/>
        </p:nvPicPr>
        <p:blipFill>
          <a:blip r:embed="rId2"/>
          <a:stretch>
            <a:fillRect/>
          </a:stretch>
        </p:blipFill>
        <p:spPr>
          <a:xfrm>
            <a:off x="1791560" y="1008530"/>
            <a:ext cx="8832995" cy="5087470"/>
          </a:xfrm>
          <a:prstGeom prst="rect">
            <a:avLst/>
          </a:prstGeom>
        </p:spPr>
      </p:pic>
    </p:spTree>
    <p:extLst>
      <p:ext uri="{BB962C8B-B14F-4D97-AF65-F5344CB8AC3E}">
        <p14:creationId xmlns:p14="http://schemas.microsoft.com/office/powerpoint/2010/main" val="569792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375440-A6A1-6415-B62A-E7168CABD6BA}"/>
              </a:ext>
            </a:extLst>
          </p:cNvPr>
          <p:cNvPicPr>
            <a:picLocks noChangeAspect="1"/>
          </p:cNvPicPr>
          <p:nvPr/>
        </p:nvPicPr>
        <p:blipFill>
          <a:blip r:embed="rId2"/>
          <a:stretch>
            <a:fillRect/>
          </a:stretch>
        </p:blipFill>
        <p:spPr>
          <a:xfrm>
            <a:off x="1800085" y="684694"/>
            <a:ext cx="8326784" cy="4859132"/>
          </a:xfrm>
          <a:prstGeom prst="rect">
            <a:avLst/>
          </a:prstGeom>
        </p:spPr>
      </p:pic>
      <p:sp>
        <p:nvSpPr>
          <p:cNvPr id="4" name="TextBox 3">
            <a:extLst>
              <a:ext uri="{FF2B5EF4-FFF2-40B4-BE49-F238E27FC236}">
                <a16:creationId xmlns:a16="http://schemas.microsoft.com/office/drawing/2014/main" id="{D578DB52-2097-D2A5-0744-D6C1B7CC3EAB}"/>
              </a:ext>
            </a:extLst>
          </p:cNvPr>
          <p:cNvSpPr txBox="1"/>
          <p:nvPr/>
        </p:nvSpPr>
        <p:spPr>
          <a:xfrm>
            <a:off x="4535287" y="5741271"/>
            <a:ext cx="2221608"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dirty="0">
                <a:latin typeface="Aharoni"/>
              </a:rPr>
              <a:t>      Bicycle</a:t>
            </a:r>
          </a:p>
        </p:txBody>
      </p:sp>
    </p:spTree>
    <p:extLst>
      <p:ext uri="{BB962C8B-B14F-4D97-AF65-F5344CB8AC3E}">
        <p14:creationId xmlns:p14="http://schemas.microsoft.com/office/powerpoint/2010/main" val="83383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6BC420-B9BE-DCB3-7EED-F3B3875E9D64}"/>
              </a:ext>
            </a:extLst>
          </p:cNvPr>
          <p:cNvPicPr>
            <a:picLocks noChangeAspect="1"/>
          </p:cNvPicPr>
          <p:nvPr/>
        </p:nvPicPr>
        <p:blipFill>
          <a:blip r:embed="rId2"/>
          <a:stretch>
            <a:fillRect/>
          </a:stretch>
        </p:blipFill>
        <p:spPr>
          <a:xfrm>
            <a:off x="1936180" y="318151"/>
            <a:ext cx="8085289" cy="5024945"/>
          </a:xfrm>
          <a:prstGeom prst="rect">
            <a:avLst/>
          </a:prstGeom>
        </p:spPr>
      </p:pic>
      <p:sp>
        <p:nvSpPr>
          <p:cNvPr id="4" name="TextBox 3">
            <a:extLst>
              <a:ext uri="{FF2B5EF4-FFF2-40B4-BE49-F238E27FC236}">
                <a16:creationId xmlns:a16="http://schemas.microsoft.com/office/drawing/2014/main" id="{91C842EB-6159-80EC-AAFE-1F9B247EFAA9}"/>
              </a:ext>
            </a:extLst>
          </p:cNvPr>
          <p:cNvSpPr txBox="1"/>
          <p:nvPr/>
        </p:nvSpPr>
        <p:spPr>
          <a:xfrm>
            <a:off x="3974751" y="5506687"/>
            <a:ext cx="5263793"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dirty="0">
                <a:latin typeface="Aharoni"/>
                <a:ea typeface="Verdana"/>
              </a:rPr>
              <a:t>Brushless DC HUB motor (BLDC)</a:t>
            </a:r>
            <a:endParaRPr lang="en-US" sz="2500" dirty="0">
              <a:latin typeface="Aharoni"/>
            </a:endParaRPr>
          </a:p>
        </p:txBody>
      </p:sp>
    </p:spTree>
    <p:extLst>
      <p:ext uri="{BB962C8B-B14F-4D97-AF65-F5344CB8AC3E}">
        <p14:creationId xmlns:p14="http://schemas.microsoft.com/office/powerpoint/2010/main" val="2585823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267BE9-CE33-1FF9-720E-0E351171B1CD}"/>
              </a:ext>
            </a:extLst>
          </p:cNvPr>
          <p:cNvPicPr>
            <a:picLocks noChangeAspect="1"/>
          </p:cNvPicPr>
          <p:nvPr/>
        </p:nvPicPr>
        <p:blipFill>
          <a:blip r:embed="rId2"/>
          <a:srcRect l="24150" t="323" r="27791" b="6774"/>
          <a:stretch>
            <a:fillRect/>
          </a:stretch>
        </p:blipFill>
        <p:spPr>
          <a:xfrm>
            <a:off x="3048001" y="419652"/>
            <a:ext cx="4997401" cy="5334015"/>
          </a:xfrm>
          <a:prstGeom prst="rect">
            <a:avLst/>
          </a:prstGeom>
        </p:spPr>
      </p:pic>
      <p:sp>
        <p:nvSpPr>
          <p:cNvPr id="2" name="TextBox 1">
            <a:extLst>
              <a:ext uri="{FF2B5EF4-FFF2-40B4-BE49-F238E27FC236}">
                <a16:creationId xmlns:a16="http://schemas.microsoft.com/office/drawing/2014/main" id="{90F634E1-8AEB-8F9C-0AB0-2F9345EDD559}"/>
              </a:ext>
            </a:extLst>
          </p:cNvPr>
          <p:cNvSpPr txBox="1"/>
          <p:nvPr/>
        </p:nvSpPr>
        <p:spPr>
          <a:xfrm>
            <a:off x="3687621" y="5945569"/>
            <a:ext cx="4077013"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dirty="0">
                <a:latin typeface="Aharoni"/>
              </a:rPr>
              <a:t>Throttle &amp; Break Levers </a:t>
            </a:r>
          </a:p>
        </p:txBody>
      </p:sp>
    </p:spTree>
    <p:extLst>
      <p:ext uri="{BB962C8B-B14F-4D97-AF65-F5344CB8AC3E}">
        <p14:creationId xmlns:p14="http://schemas.microsoft.com/office/powerpoint/2010/main" val="4026504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E56EE9-AE2F-1FAD-FA77-F2C5629766DC}"/>
              </a:ext>
            </a:extLst>
          </p:cNvPr>
          <p:cNvPicPr>
            <a:picLocks noChangeAspect="1"/>
          </p:cNvPicPr>
          <p:nvPr/>
        </p:nvPicPr>
        <p:blipFill>
          <a:blip r:embed="rId2"/>
          <a:stretch>
            <a:fillRect/>
          </a:stretch>
        </p:blipFill>
        <p:spPr>
          <a:xfrm>
            <a:off x="2600325" y="842683"/>
            <a:ext cx="5175996" cy="5318312"/>
          </a:xfrm>
          <a:prstGeom prst="rect">
            <a:avLst/>
          </a:prstGeom>
        </p:spPr>
      </p:pic>
      <p:sp>
        <p:nvSpPr>
          <p:cNvPr id="4" name="TextBox 3">
            <a:extLst>
              <a:ext uri="{FF2B5EF4-FFF2-40B4-BE49-F238E27FC236}">
                <a16:creationId xmlns:a16="http://schemas.microsoft.com/office/drawing/2014/main" id="{6ED81178-9C5A-F30E-100E-2CCEA98D7564}"/>
              </a:ext>
            </a:extLst>
          </p:cNvPr>
          <p:cNvSpPr txBox="1"/>
          <p:nvPr/>
        </p:nvSpPr>
        <p:spPr>
          <a:xfrm>
            <a:off x="455440" y="138012"/>
            <a:ext cx="966392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Battery Pack Calculation:</a:t>
            </a:r>
            <a:endParaRPr lang="en-US" dirty="0"/>
          </a:p>
        </p:txBody>
      </p:sp>
    </p:spTree>
    <p:extLst>
      <p:ext uri="{BB962C8B-B14F-4D97-AF65-F5344CB8AC3E}">
        <p14:creationId xmlns:p14="http://schemas.microsoft.com/office/powerpoint/2010/main" val="1029329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BC15CD-240E-32AC-B2E6-AD43217D778F}"/>
              </a:ext>
            </a:extLst>
          </p:cNvPr>
          <p:cNvPicPr>
            <a:picLocks noChangeAspect="1"/>
          </p:cNvPicPr>
          <p:nvPr/>
        </p:nvPicPr>
        <p:blipFill>
          <a:blip r:embed="rId2"/>
          <a:srcRect l="2863" t="2663" r="-2863" b="-915"/>
          <a:stretch>
            <a:fillRect/>
          </a:stretch>
        </p:blipFill>
        <p:spPr>
          <a:xfrm>
            <a:off x="757084" y="826167"/>
            <a:ext cx="3982064" cy="5234304"/>
          </a:xfrm>
          <a:prstGeom prst="rect">
            <a:avLst/>
          </a:prstGeom>
        </p:spPr>
      </p:pic>
      <p:pic>
        <p:nvPicPr>
          <p:cNvPr id="5" name="Picture 4">
            <a:extLst>
              <a:ext uri="{FF2B5EF4-FFF2-40B4-BE49-F238E27FC236}">
                <a16:creationId xmlns:a16="http://schemas.microsoft.com/office/drawing/2014/main" id="{B6BB3667-EEBB-FD79-6452-D91B3F539BBC}"/>
              </a:ext>
            </a:extLst>
          </p:cNvPr>
          <p:cNvPicPr>
            <a:picLocks noChangeAspect="1"/>
          </p:cNvPicPr>
          <p:nvPr/>
        </p:nvPicPr>
        <p:blipFill>
          <a:blip r:embed="rId3"/>
          <a:stretch>
            <a:fillRect/>
          </a:stretch>
        </p:blipFill>
        <p:spPr>
          <a:xfrm>
            <a:off x="5535562" y="811848"/>
            <a:ext cx="4121064" cy="5234303"/>
          </a:xfrm>
          <a:prstGeom prst="rect">
            <a:avLst/>
          </a:prstGeom>
        </p:spPr>
      </p:pic>
      <p:sp>
        <p:nvSpPr>
          <p:cNvPr id="8" name="TextBox 7">
            <a:extLst>
              <a:ext uri="{FF2B5EF4-FFF2-40B4-BE49-F238E27FC236}">
                <a16:creationId xmlns:a16="http://schemas.microsoft.com/office/drawing/2014/main" id="{C5122F0D-C89C-5C61-EFC5-37D802B0F329}"/>
              </a:ext>
            </a:extLst>
          </p:cNvPr>
          <p:cNvSpPr txBox="1"/>
          <p:nvPr/>
        </p:nvSpPr>
        <p:spPr>
          <a:xfrm>
            <a:off x="447040" y="294640"/>
            <a:ext cx="5892800" cy="323165"/>
          </a:xfrm>
          <a:prstGeom prst="rect">
            <a:avLst/>
          </a:prstGeom>
          <a:noFill/>
        </p:spPr>
        <p:txBody>
          <a:bodyPr wrap="square" rtlCol="0">
            <a:spAutoFit/>
          </a:bodyPr>
          <a:lstStyle/>
          <a:p>
            <a:r>
              <a:rPr lang="en-US" sz="1500" b="1" dirty="0">
                <a:latin typeface="+mn-lt"/>
              </a:rPr>
              <a:t>Energy Calculation for Slope Climbing in a Solar E- Bicycle</a:t>
            </a:r>
            <a:endParaRPr lang="en-IN" sz="1500" b="1" dirty="0">
              <a:latin typeface="+mn-lt"/>
            </a:endParaRPr>
          </a:p>
        </p:txBody>
      </p:sp>
    </p:spTree>
    <p:extLst>
      <p:ext uri="{BB962C8B-B14F-4D97-AF65-F5344CB8AC3E}">
        <p14:creationId xmlns:p14="http://schemas.microsoft.com/office/powerpoint/2010/main" val="3276720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A9BDA1C-0928-509A-2C57-CC888E7E51CF}"/>
              </a:ext>
            </a:extLst>
          </p:cNvPr>
          <p:cNvPicPr>
            <a:picLocks noChangeAspect="1"/>
          </p:cNvPicPr>
          <p:nvPr/>
        </p:nvPicPr>
        <p:blipFill>
          <a:blip r:embed="rId2"/>
          <a:stretch>
            <a:fillRect/>
          </a:stretch>
        </p:blipFill>
        <p:spPr>
          <a:xfrm>
            <a:off x="797560" y="1022914"/>
            <a:ext cx="5191760" cy="5146466"/>
          </a:xfrm>
          <a:prstGeom prst="rect">
            <a:avLst/>
          </a:prstGeom>
        </p:spPr>
      </p:pic>
      <p:sp>
        <p:nvSpPr>
          <p:cNvPr id="9" name="TextBox 8">
            <a:extLst>
              <a:ext uri="{FF2B5EF4-FFF2-40B4-BE49-F238E27FC236}">
                <a16:creationId xmlns:a16="http://schemas.microsoft.com/office/drawing/2014/main" id="{43ABD461-1E2D-C795-A719-1709321EF160}"/>
              </a:ext>
            </a:extLst>
          </p:cNvPr>
          <p:cNvSpPr txBox="1"/>
          <p:nvPr/>
        </p:nvSpPr>
        <p:spPr>
          <a:xfrm>
            <a:off x="895063" y="379562"/>
            <a:ext cx="3078480" cy="338554"/>
          </a:xfrm>
          <a:prstGeom prst="rect">
            <a:avLst/>
          </a:prstGeom>
          <a:noFill/>
        </p:spPr>
        <p:txBody>
          <a:bodyPr wrap="square" rtlCol="0">
            <a:spAutoFit/>
          </a:bodyPr>
          <a:lstStyle/>
          <a:p>
            <a:r>
              <a:rPr lang="en-IN" sz="1600" b="1" dirty="0">
                <a:latin typeface="+mj-lt"/>
              </a:rPr>
              <a:t>Solar Panel Specifications</a:t>
            </a:r>
          </a:p>
        </p:txBody>
      </p:sp>
      <p:pic>
        <p:nvPicPr>
          <p:cNvPr id="1026" name="Picture 2">
            <a:extLst>
              <a:ext uri="{FF2B5EF4-FFF2-40B4-BE49-F238E27FC236}">
                <a16:creationId xmlns:a16="http://schemas.microsoft.com/office/drawing/2014/main" id="{8EC1A46C-0ADD-42E6-AC0F-D1E9B398A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722" y="1447800"/>
            <a:ext cx="4482466"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388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3B92-1CD3-7691-26F8-FA8B75ABB4EC}"/>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4296C317-179E-91E2-7C19-892051453C36}"/>
              </a:ext>
            </a:extLst>
          </p:cNvPr>
          <p:cNvSpPr>
            <a:spLocks noGrp="1"/>
          </p:cNvSpPr>
          <p:nvPr>
            <p:ph type="body" idx="1"/>
          </p:nvPr>
        </p:nvSpPr>
        <p:spPr/>
        <p:txBody>
          <a:bodyPr/>
          <a:lstStyle/>
          <a:p>
            <a:r>
              <a:rPr lang="en-US" sz="1600" dirty="0">
                <a:latin typeface="+mj-lt"/>
              </a:rPr>
              <a:t>The project team successfully completed the essential mechanical and electrical integrations required for the Solar E-Bicycle . The BLDC hub motor, throttle, and brake levers were properly fixed . Alongside the hardware setup, the IoT-based monitoring system was developed using online simulation platform (</a:t>
            </a:r>
            <a:r>
              <a:rPr lang="en-US" sz="1600" dirty="0" err="1">
                <a:hlinkClick r:id="rId2"/>
              </a:rPr>
              <a:t>Wokwi</a:t>
            </a:r>
            <a:r>
              <a:rPr lang="en-US" sz="1600" dirty="0">
                <a:hlinkClick r:id="rId2"/>
              </a:rPr>
              <a:t> - World's most advanced ESP32 Simulator</a:t>
            </a:r>
            <a:r>
              <a:rPr lang="en-US" sz="1600" dirty="0"/>
              <a:t>) </a:t>
            </a:r>
            <a:r>
              <a:rPr lang="en-US" sz="1600" dirty="0">
                <a:latin typeface="+mj-lt"/>
              </a:rPr>
              <a:t>, where the ESP-32 logic, OLED display interface, and sensor integrations were coded and validated.</a:t>
            </a:r>
          </a:p>
          <a:p>
            <a:pPr marL="114300" indent="0">
              <a:buNone/>
            </a:pPr>
            <a:endParaRPr lang="en-US" sz="1600" dirty="0">
              <a:latin typeface="+mj-lt"/>
            </a:endParaRPr>
          </a:p>
          <a:p>
            <a:r>
              <a:rPr lang="en-US" sz="1600" dirty="0">
                <a:latin typeface="+mj-lt"/>
              </a:rPr>
              <a:t>Battery capacity calculations and Solar Panel Power calculations were performed to determine proper energy requirements for continuous operation. These results confirm that the selected battery pack and solar charging system are capable of supporting the bicycle’s performance and energy needs.</a:t>
            </a:r>
          </a:p>
          <a:p>
            <a:pPr marL="114300" indent="0">
              <a:buNone/>
            </a:pPr>
            <a:endParaRPr lang="en-US" sz="1600" dirty="0">
              <a:latin typeface="+mj-lt"/>
            </a:endParaRPr>
          </a:p>
          <a:p>
            <a:r>
              <a:rPr lang="en-US" sz="1600" dirty="0">
                <a:latin typeface="+mj-lt"/>
              </a:rPr>
              <a:t>Overall, the project demonstrates the feasibility of integrating renewable solar energy with smart IoT monitoring in an electric bicycle. The ongoing work on hardware connections, simulations, coding, and power calculations shows steady progress toward developing a Solar E Bicycle.</a:t>
            </a:r>
            <a:endParaRPr lang="en-IN" dirty="0">
              <a:latin typeface="+mj-lt"/>
            </a:endParaRPr>
          </a:p>
        </p:txBody>
      </p:sp>
      <p:sp>
        <p:nvSpPr>
          <p:cNvPr id="4" name="Slide Number Placeholder 3">
            <a:extLst>
              <a:ext uri="{FF2B5EF4-FFF2-40B4-BE49-F238E27FC236}">
                <a16:creationId xmlns:a16="http://schemas.microsoft.com/office/drawing/2014/main" id="{61ADB031-5A27-CBF6-DFEF-85FE3C85C8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608762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dirty="0">
                <a:solidFill>
                  <a:srgbClr val="007069"/>
                </a:solidFill>
                <a:latin typeface="Open Sans"/>
                <a:ea typeface="Open Sans"/>
                <a:cs typeface="Open Sans"/>
                <a:sym typeface="Open Sans"/>
              </a:rPr>
              <a:t>THANK </a:t>
            </a:r>
            <a:r>
              <a:rPr lang="en-US" sz="11500" b="1" i="0" u="none" strike="noStrike" cap="none" dirty="0">
                <a:solidFill>
                  <a:srgbClr val="A5A5A5"/>
                </a:solidFill>
                <a:latin typeface="Open Sans"/>
                <a:ea typeface="Open Sans"/>
                <a:cs typeface="Open Sans"/>
                <a:sym typeface="Open Sans"/>
              </a:rPr>
              <a:t>YOU</a:t>
            </a:r>
            <a:endParaRPr sz="1400" b="0" i="0" u="none" strike="noStrike" cap="none" dirty="0">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3375</TotalTime>
  <Words>915</Words>
  <Application>Microsoft Office PowerPoint</Application>
  <PresentationFormat>Widescreen</PresentationFormat>
  <Paragraphs>162</Paragraphs>
  <Slides>22</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Verdana</vt:lpstr>
      <vt:lpstr>Plus Jakarta Sans</vt:lpstr>
      <vt:lpstr>Calibri</vt:lpstr>
      <vt:lpstr>Aharoni</vt:lpstr>
      <vt:lpstr>Arial</vt:lpstr>
      <vt:lpstr>Open Sans</vt:lpstr>
      <vt:lpstr>Candara</vt:lpstr>
      <vt:lpstr>Montserrat</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Integration in IoT Devices</vt:lpstr>
      <vt:lpstr>PowerPoint Presentation</vt:lpstr>
      <vt:lpstr>OLED 128*64</vt:lpstr>
      <vt:lpstr>DS3231 RTC MODULE</vt:lpstr>
      <vt:lpstr>RESULTS</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karthik s</cp:lastModifiedBy>
  <cp:revision>287</cp:revision>
  <dcterms:created xsi:type="dcterms:W3CDTF">2022-05-23T07:15:42Z</dcterms:created>
  <dcterms:modified xsi:type="dcterms:W3CDTF">2025-11-23T08:33:13Z</dcterms:modified>
</cp:coreProperties>
</file>